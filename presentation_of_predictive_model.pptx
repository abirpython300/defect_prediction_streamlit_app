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FFCC"/>
    <a:srgbClr val="FFFFFF"/>
    <a:srgbClr val="DDDDDD"/>
    <a:srgbClr val="CCCCFF"/>
    <a:srgbClr val="CC3300"/>
    <a:srgbClr val="FF3300"/>
    <a:srgbClr val="C55A11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9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3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27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2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50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58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03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20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69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93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67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881CE-C6B3-48DC-9522-3F7D900EEF17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46B91-5879-4D8E-8BC8-56064B673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75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2462" t="7237"/>
          <a:stretch/>
        </p:blipFill>
        <p:spPr>
          <a:xfrm>
            <a:off x="5839096" y="0"/>
            <a:ext cx="6352903" cy="6949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5839096" cy="6858000"/>
          </a:xfrm>
          <a:prstGeom prst="rect">
            <a:avLst/>
          </a:prstGeom>
          <a:solidFill>
            <a:srgbClr val="EAEAEA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Proactive Quality Intervention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Transitioning Apex Industrial Systems From Reactive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Inspection</a:t>
            </a:r>
            <a:r>
              <a:rPr lang="en-US" sz="2000" dirty="0" smtClean="0">
                <a:solidFill>
                  <a:schemeClr val="tx1"/>
                </a:solidFill>
              </a:rPr>
              <a:t> to Predictive Defect Detection.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480559"/>
            <a:ext cx="7315199" cy="2377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US" sz="20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2000" b="1" dirty="0" smtClean="0">
                <a:solidFill>
                  <a:schemeClr val="tx1"/>
                </a:solidFill>
              </a:rPr>
              <a:t>IVY DATA SCIENCE INTERSHIP</a:t>
            </a:r>
          </a:p>
          <a:p>
            <a:pPr algn="just"/>
            <a:r>
              <a:rPr lang="en-US" sz="2000" b="1" dirty="0" smtClean="0">
                <a:solidFill>
                  <a:schemeClr val="tx1"/>
                </a:solidFill>
              </a:rPr>
              <a:t>FINAL PRESENTATION</a:t>
            </a:r>
          </a:p>
          <a:p>
            <a:pPr algn="just"/>
            <a:r>
              <a:rPr lang="en-US" sz="2000" b="1" dirty="0" smtClean="0">
                <a:solidFill>
                  <a:schemeClr val="tx1"/>
                </a:solidFill>
              </a:rPr>
              <a:t>Logistic Regression  Predictive Quality Control – 2026</a:t>
            </a:r>
          </a:p>
          <a:p>
            <a:pPr algn="just"/>
            <a:r>
              <a:rPr lang="en-US" sz="2000" b="1" dirty="0" smtClean="0">
                <a:solidFill>
                  <a:schemeClr val="tx1"/>
                </a:solidFill>
              </a:rPr>
              <a:t>Data science – Quality Engineering - Operations</a:t>
            </a:r>
            <a:endParaRPr lang="en-US" sz="2000" b="1" dirty="0">
              <a:solidFill>
                <a:schemeClr val="tx1"/>
              </a:solidFill>
            </a:endParaRPr>
          </a:p>
          <a:p>
            <a:pPr algn="just"/>
            <a:endParaRPr lang="en-US" sz="20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64" y="2939142"/>
            <a:ext cx="2351314" cy="131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5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4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1325561"/>
            <a:ext cx="12192000" cy="55324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bg2"/>
          </a:solidFill>
        </p:spPr>
        <p:txBody>
          <a:bodyPr/>
          <a:lstStyle/>
          <a:p>
            <a:r>
              <a:rPr lang="en-US" b="1" dirty="0" smtClean="0">
                <a:latin typeface="+mn-lt"/>
              </a:rPr>
              <a:t>Business Problem</a:t>
            </a:r>
            <a:endParaRPr lang="en-IN" b="1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1"/>
            <a:ext cx="3149600" cy="553243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38666" y="2455333"/>
            <a:ext cx="1778003" cy="3194315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DDDDDD"/>
                </a:solidFill>
              </a:rPr>
              <a:t>Origin: </a:t>
            </a:r>
          </a:p>
          <a:p>
            <a:pPr algn="ctr"/>
            <a:r>
              <a:rPr lang="en-US" b="1" dirty="0" smtClean="0">
                <a:solidFill>
                  <a:srgbClr val="DDDDDD"/>
                </a:solidFill>
                <a:latin typeface="+mj-lt"/>
              </a:rPr>
              <a:t>Small defect escapes detection on the floor</a:t>
            </a:r>
            <a:endParaRPr lang="en-IN" b="1" dirty="0">
              <a:solidFill>
                <a:srgbClr val="DDDDDD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66531" y="1473202"/>
            <a:ext cx="2743200" cy="12869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Primary Impact: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Increased 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manufacturing 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costs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6531" y="5096934"/>
            <a:ext cx="2743200" cy="112103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Primary Impact: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Production 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Inefficiencies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9615"/>
          <a:stretch/>
        </p:blipFill>
        <p:spPr>
          <a:xfrm>
            <a:off x="5181603" y="1625600"/>
            <a:ext cx="795866" cy="11345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376" y="5259652"/>
            <a:ext cx="728324" cy="95832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610" y="1893359"/>
            <a:ext cx="714375" cy="43246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30985" y="1625600"/>
            <a:ext cx="2151594" cy="1439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Secondary Impact: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Increased 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Scrap 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Rates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30985" y="4778640"/>
            <a:ext cx="2151594" cy="1439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Primary Impact: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Spikes in 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Production Losses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579" y="2174477"/>
            <a:ext cx="800100" cy="37908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2541" y="2070363"/>
            <a:ext cx="657225" cy="6897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9470" y="5755744"/>
            <a:ext cx="1553109" cy="419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582679" y="1814247"/>
            <a:ext cx="2151594" cy="1439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Terminal Impact: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dissatisfaction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89565" y="4929981"/>
            <a:ext cx="2151594" cy="1439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Terminal Impact:</a:t>
            </a: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Systemic Supply chain disruptions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4219" y="2734998"/>
            <a:ext cx="1181100" cy="4762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6594" y="5965294"/>
            <a:ext cx="12287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22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199"/>
          </a:xfrm>
          <a:solidFill>
            <a:srgbClr val="EAEAEA"/>
          </a:solidFill>
        </p:spPr>
        <p:txBody>
          <a:bodyPr anchor="ctr"/>
          <a:lstStyle/>
          <a:p>
            <a:r>
              <a:rPr lang="en-US" b="1" dirty="0" smtClean="0">
                <a:latin typeface="+mn-lt"/>
              </a:rPr>
              <a:t>Strategic objectives of Business Transition</a:t>
            </a:r>
            <a:endParaRPr lang="en-IN" b="1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965200"/>
            <a:ext cx="12192000" cy="589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26416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 smtClean="0">
                <a:solidFill>
                  <a:schemeClr val="tx1"/>
                </a:solidFill>
              </a:rPr>
              <a:t>Methodology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49600" y="2194133"/>
            <a:ext cx="3960000" cy="9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Reactive Quality Control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40137" y="2194133"/>
            <a:ext cx="3960000" cy="90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Predictive classification model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344334"/>
            <a:ext cx="26416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Timing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9600" y="3328667"/>
            <a:ext cx="3960000" cy="9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Post-production manual inspection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0137" y="3328667"/>
            <a:ext cx="3960000" cy="90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Pre-shipment defect production</a:t>
            </a:r>
          </a:p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[1 = Defective, 0 =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Non-defective]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478868"/>
            <a:ext cx="26416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Impact of scrap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49600" y="4463201"/>
            <a:ext cx="3960000" cy="9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High baseline scrap rates and uncontrolled production losses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40137" y="4463201"/>
            <a:ext cx="3960000" cy="90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Proactive intervention determining high-risk production runs in real-time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5613402"/>
            <a:ext cx="26416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Insight Generation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49600" y="5597735"/>
            <a:ext cx="3960000" cy="9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Blind to systemic root causes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40137" y="5597735"/>
            <a:ext cx="3960000" cy="90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Continuous determination of key operational and environmental drivers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08800" y="1153800"/>
            <a:ext cx="2641600" cy="9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Current Paradigm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(Reactive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499337" y="1110400"/>
            <a:ext cx="2641600" cy="9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Future Paradigm</a:t>
            </a:r>
          </a:p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(Predictive)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26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EAEAEA"/>
          </a:solidFill>
          <a:ln>
            <a:noFill/>
          </a:ln>
        </p:spPr>
        <p:txBody>
          <a:bodyPr anchor="t"/>
          <a:lstStyle/>
          <a:p>
            <a:r>
              <a:rPr lang="en-US" b="1" dirty="0" smtClean="0">
                <a:latin typeface="+mn-lt"/>
              </a:rPr>
              <a:t>DATA OVERVIEW AND CONSOLIDATION</a:t>
            </a:r>
            <a:endParaRPr lang="en-IN" b="1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1325563"/>
            <a:ext cx="12192001" cy="553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122"/>
          <a:stretch/>
        </p:blipFill>
        <p:spPr>
          <a:xfrm>
            <a:off x="2726265" y="1325563"/>
            <a:ext cx="6807200" cy="5532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744133"/>
            <a:ext cx="2726265" cy="181186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ERP(Enterprise resource planning</a:t>
            </a:r>
            <a:r>
              <a:rPr lang="en-US" dirty="0" smtClean="0">
                <a:solidFill>
                  <a:schemeClr val="tx1"/>
                </a:solidFill>
              </a:rPr>
              <a:t>) Supply work orders, production schedules, rework and scrap records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" y="4091781"/>
            <a:ext cx="2726265" cy="181186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MES(Manufacturing Execution Systems)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Tracking machine cycle times, downtime, shift logs and operator IDs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16535" y="1540933"/>
            <a:ext cx="2726265" cy="181186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QMS(Quality Management Systems)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Providing outcomes of quality inspection, defect codes ad critical production ratings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533465" y="3772429"/>
            <a:ext cx="2726265" cy="196797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SCADA(Supervisory Control and Data Acquisition)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Streaming production sensor-relates data including pressure, temperature and humidity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95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783771"/>
            <a:ext cx="12192000" cy="607422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3771"/>
          </a:xfrm>
          <a:solidFill>
            <a:srgbClr val="EAEAEA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DATA OVERVIEW AND CONSOLIDATION</a:t>
            </a:r>
            <a:endParaRPr lang="en-IN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940" y="2312126"/>
            <a:ext cx="6191249" cy="3095898"/>
          </a:xfrm>
          <a:prstGeom prst="rect">
            <a:avLst/>
          </a:prstGeom>
        </p:spPr>
      </p:pic>
      <p:sp>
        <p:nvSpPr>
          <p:cNvPr id="7" name="Can 6"/>
          <p:cNvSpPr/>
          <p:nvPr/>
        </p:nvSpPr>
        <p:spPr>
          <a:xfrm>
            <a:off x="1214846" y="2756263"/>
            <a:ext cx="1903094" cy="2508069"/>
          </a:xfrm>
          <a:prstGeom prst="can">
            <a:avLst/>
          </a:prstGeom>
          <a:solidFill>
            <a:srgbClr val="DDDDDD"/>
          </a:solidFill>
          <a:ln>
            <a:solidFill>
              <a:schemeClr val="tx1"/>
            </a:solidFill>
          </a:ln>
          <a:scene3d>
            <a:camera prst="obliqueBottom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Raw Operational Data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ERP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QMS(2)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MES(2)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SCADA</a:t>
            </a:r>
          </a:p>
          <a:p>
            <a:pPr algn="ctr"/>
            <a:endParaRPr lang="en-US" b="1" dirty="0" smtClean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Can 7"/>
          <p:cNvSpPr/>
          <p:nvPr/>
        </p:nvSpPr>
        <p:spPr>
          <a:xfrm>
            <a:off x="4920343" y="992778"/>
            <a:ext cx="1903094" cy="1319348"/>
          </a:xfrm>
          <a:prstGeom prst="can">
            <a:avLst/>
          </a:prstGeom>
          <a:solidFill>
            <a:srgbClr val="DDDDDD"/>
          </a:solidFill>
          <a:ln>
            <a:solidFill>
              <a:schemeClr val="tx1"/>
            </a:solidFill>
          </a:ln>
          <a:scene3d>
            <a:camera prst="obliqueTop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Machine 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Master Data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Can 8"/>
          <p:cNvSpPr/>
          <p:nvPr/>
        </p:nvSpPr>
        <p:spPr>
          <a:xfrm>
            <a:off x="5033554" y="5414556"/>
            <a:ext cx="1903094" cy="1319348"/>
          </a:xfrm>
          <a:prstGeom prst="can">
            <a:avLst/>
          </a:prstGeom>
          <a:solidFill>
            <a:srgbClr val="DDDDD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Operator 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Master Data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9309189" y="2312126"/>
            <a:ext cx="2882811" cy="2958739"/>
          </a:xfrm>
          <a:prstGeom prst="frame">
            <a:avLst/>
          </a:prstGeom>
          <a:solidFill>
            <a:schemeClr val="accent3">
              <a:lumMod val="75000"/>
            </a:schemeClr>
          </a:soli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 smtClean="0">
                <a:solidFill>
                  <a:schemeClr val="tx1"/>
                </a:solidFill>
              </a:rPr>
              <a:t>The Single Source of Truth</a:t>
            </a:r>
            <a:endParaRPr lang="en-IN" sz="30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36648" y="1068252"/>
            <a:ext cx="2794000" cy="116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Injects context on machine type, capacity, configuration and criticality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26343" y="5505996"/>
            <a:ext cx="2794000" cy="116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Injects context on operator experience level, role and training details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53594" y="5356499"/>
            <a:ext cx="2794000" cy="116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Consolidated dataset established as the absolute foundation for predictive model development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8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744583"/>
            <a:ext cx="12192000" cy="611341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4583"/>
          </a:xfrm>
          <a:solidFill>
            <a:srgbClr val="EAEAEA"/>
          </a:solidFill>
        </p:spPr>
        <p:txBody>
          <a:bodyPr/>
          <a:lstStyle/>
          <a:p>
            <a:r>
              <a:rPr lang="en-IN" b="1" dirty="0" smtClean="0">
                <a:latin typeface="+mn-lt"/>
              </a:rPr>
              <a:t>Feature </a:t>
            </a:r>
            <a:r>
              <a:rPr lang="en-IN" b="1" dirty="0">
                <a:latin typeface="+mn-lt"/>
              </a:rPr>
              <a:t>Preparation &amp; Analysis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394" y="744583"/>
            <a:ext cx="5447211" cy="611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802674"/>
            <a:ext cx="3855721" cy="111034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Layer1: Data Cleaning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Handling missing values with median for numerical columns and mode for categorical column. Duplicate rows were dropped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" y="2886891"/>
            <a:ext cx="4010298" cy="113647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Layer2: Strategic retention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Preserving theoretical outliers because they demonstrate significant impact on production defects</a:t>
            </a:r>
          </a:p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" y="4023362"/>
            <a:ext cx="4558938" cy="148916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Layer 3: Statistical feature selection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Boxplot and </a:t>
            </a:r>
            <a:r>
              <a:rPr lang="en-US" sz="1600" dirty="0" err="1" smtClean="0">
                <a:solidFill>
                  <a:schemeClr val="tx1"/>
                </a:solidFill>
              </a:rPr>
              <a:t>Anova</a:t>
            </a:r>
            <a:r>
              <a:rPr lang="en-US" sz="1600" dirty="0" smtClean="0">
                <a:solidFill>
                  <a:schemeClr val="tx1"/>
                </a:solidFill>
              </a:rPr>
              <a:t> tests for numeric column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Grouped bar and chi-square tests for categorical columns through performing one-hot coder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796836"/>
            <a:ext cx="3511733" cy="97971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12204 rows and 38 columns of chaotic, raw operational data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16182" y="5734594"/>
            <a:ext cx="1854926" cy="78377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80% Model training data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00208" y="5734594"/>
            <a:ext cx="1528354" cy="7837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20% model testing data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32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"/>
          </a:xfrm>
          <a:solidFill>
            <a:srgbClr val="EAEAEA"/>
          </a:solidFill>
          <a:ln>
            <a:noFill/>
          </a:ln>
        </p:spPr>
        <p:txBody>
          <a:bodyPr anchor="t">
            <a:normAutofit fontScale="90000"/>
          </a:bodyPr>
          <a:lstStyle/>
          <a:p>
            <a:r>
              <a:rPr lang="en-US" b="1" dirty="0" smtClean="0">
                <a:latin typeface="+mn-lt"/>
              </a:rPr>
              <a:t>Validation of Model intelligence </a:t>
            </a:r>
            <a:endParaRPr lang="en-IN" b="1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971" y="1295401"/>
            <a:ext cx="6483531" cy="4360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656217"/>
            <a:ext cx="12192000" cy="1201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708466" y="5630091"/>
            <a:ext cx="5882641" cy="1201783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b="1" dirty="0" smtClean="0">
                <a:solidFill>
                  <a:sysClr val="windowText" lastClr="000000"/>
                </a:solidFill>
              </a:rPr>
              <a:t>Business Translation:</a:t>
            </a:r>
            <a:r>
              <a:rPr lang="en-US" dirty="0" smtClean="0">
                <a:solidFill>
                  <a:sysClr val="windowText" lastClr="000000"/>
                </a:solidFill>
              </a:rPr>
              <a:t>  A 91% Recall rate ensures that 9 out of every 10 defective units are successfully flagged and intercepted before shipment. It will directly neutralize supply chain disruptions.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046027" y="4859383"/>
            <a:ext cx="8709" cy="77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0" y="609601"/>
            <a:ext cx="12192000" cy="685800"/>
          </a:xfrm>
          <a:prstGeom prst="rect">
            <a:avLst/>
          </a:prstGeom>
          <a:solidFill>
            <a:srgbClr val="EAEAEA"/>
          </a:solidFill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000" b="1" dirty="0" smtClean="0">
                <a:latin typeface="Arial Black" panose="020B0A04020102020204" pitchFamily="34" charset="0"/>
              </a:rPr>
              <a:t>The predictive model is fully validates and strong enough to be deployed into the live production process immediately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246279"/>
            <a:ext cx="5812971" cy="43838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252" y="5630091"/>
            <a:ext cx="5603964" cy="1201783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500" b="1" dirty="0" smtClean="0">
                <a:solidFill>
                  <a:schemeClr val="tx1"/>
                </a:solidFill>
              </a:rPr>
              <a:t>Total Matches</a:t>
            </a:r>
            <a:r>
              <a:rPr lang="en-US" sz="25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(1758+594)= 2352(True)</a:t>
            </a:r>
          </a:p>
          <a:p>
            <a:pPr algn="just"/>
            <a:r>
              <a:rPr lang="en-US" sz="25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Total Mismatches(27+62) = 89(False)</a:t>
            </a:r>
            <a:endParaRPr lang="en-IN" sz="25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14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2149"/>
          </a:xfrm>
          <a:solidFill>
            <a:srgbClr val="EAEAEA"/>
          </a:solidFill>
        </p:spPr>
        <p:txBody>
          <a:bodyPr/>
          <a:lstStyle/>
          <a:p>
            <a:r>
              <a:rPr lang="en-US" b="1" dirty="0" smtClean="0">
                <a:latin typeface="+mn-lt"/>
              </a:rPr>
              <a:t>Recommendations for model integration </a:t>
            </a:r>
            <a:endParaRPr lang="en-IN" b="1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6" y="770709"/>
            <a:ext cx="6313714" cy="46180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421" y="5075234"/>
            <a:ext cx="4050000" cy="1800000"/>
          </a:xfrm>
          <a:prstGeom prst="rect">
            <a:avLst/>
          </a:prstGeom>
          <a:solidFill>
            <a:srgbClr val="EAEA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Reduce the classification threshold from 0.50 to 0.35.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87920" y="5075234"/>
            <a:ext cx="4104000" cy="1800000"/>
          </a:xfrm>
          <a:prstGeom prst="rect">
            <a:avLst/>
          </a:prstGeom>
          <a:solidFill>
            <a:srgbClr val="EAEA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Sliding the threshold leftward increases sensitively, capturing a significantly higher volume of true defects while accepting a minor increase in false alarms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8091" y="5049112"/>
            <a:ext cx="4050000" cy="1800000"/>
          </a:xfrm>
          <a:prstGeom prst="rect">
            <a:avLst/>
          </a:prstGeom>
          <a:solidFill>
            <a:srgbClr val="EAEA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Minimizes false negatives (escaped defects) at a fundamental level. Prioritizes defect capture to drastically reduce downstream supply chain costs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088299"/>
            <a:ext cx="4050001" cy="30044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The Recommendation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4114919" y="5075234"/>
            <a:ext cx="4050001" cy="3168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The Tradeoff Mechanics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8225072" y="5072126"/>
            <a:ext cx="4050001" cy="31661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The Business Impact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0" y="915647"/>
            <a:ext cx="5853865" cy="41334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40034" y="875214"/>
            <a:ext cx="2338252" cy="150222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400" b="1" dirty="0" smtClean="0">
                <a:solidFill>
                  <a:schemeClr val="tx1"/>
                </a:solidFill>
              </a:rPr>
              <a:t>AUC Score: 0.99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Model is enough strong to separate defect from non-defect class.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64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0709"/>
          </a:xfrm>
          <a:solidFill>
            <a:srgbClr val="EAEAEA"/>
          </a:solidFill>
        </p:spPr>
        <p:txBody>
          <a:bodyPr/>
          <a:lstStyle/>
          <a:p>
            <a:r>
              <a:rPr lang="en-US" b="1" dirty="0" smtClean="0">
                <a:latin typeface="+mn-lt"/>
              </a:rPr>
              <a:t>REAL-TIME ARCHITECTURE</a:t>
            </a:r>
            <a:endParaRPr lang="en-IN" b="1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54369"/>
            <a:ext cx="12192000" cy="370590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25375" y="779214"/>
            <a:ext cx="12214531" cy="98366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1" y="770709"/>
            <a:ext cx="3060000" cy="98366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Step1</a:t>
            </a:r>
            <a:r>
              <a:rPr lang="en-US" dirty="0" smtClean="0">
                <a:solidFill>
                  <a:schemeClr val="tx1"/>
                </a:solidFill>
              </a:rPr>
              <a:t>: Live operational and environmental data streams into the integrated pipeline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69771" y="779214"/>
            <a:ext cx="3060000" cy="98366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Step2</a:t>
            </a:r>
            <a:r>
              <a:rPr lang="en-US" dirty="0" smtClean="0">
                <a:solidFill>
                  <a:schemeClr val="tx1"/>
                </a:solidFill>
              </a:rPr>
              <a:t>: The model analyzes telemetry and contextual master data in real time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35188" y="762204"/>
            <a:ext cx="3060000" cy="98366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Step3</a:t>
            </a:r>
            <a:r>
              <a:rPr lang="en-US" dirty="0" smtClean="0">
                <a:solidFill>
                  <a:schemeClr val="tx1"/>
                </a:solidFill>
              </a:rPr>
              <a:t>: System flags high-risk production runs (Classification = 1)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-25375" y="5452451"/>
            <a:ext cx="12214531" cy="1396800"/>
          </a:xfrm>
          <a:prstGeom prst="rect">
            <a:avLst/>
          </a:prstGeom>
          <a:solidFill>
            <a:srgbClr val="EAEA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13669" y="762204"/>
            <a:ext cx="2978331" cy="98366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Step4</a:t>
            </a:r>
            <a:r>
              <a:rPr lang="en-US" dirty="0" smtClean="0">
                <a:solidFill>
                  <a:schemeClr val="tx1"/>
                </a:solidFill>
              </a:rPr>
              <a:t>: Proactive quality intervention is deployed before the run the completed or shipped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2" y="5460275"/>
            <a:ext cx="3960000" cy="1397725"/>
          </a:xfrm>
          <a:prstGeom prst="rect">
            <a:avLst/>
          </a:prstGeom>
          <a:solidFill>
            <a:srgbClr val="EAEA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Combines real-time </a:t>
            </a:r>
            <a:r>
              <a:rPr lang="en-US" dirty="0" err="1" smtClean="0">
                <a:solidFill>
                  <a:schemeClr val="tx1"/>
                </a:solidFill>
              </a:rPr>
              <a:t>IoT</a:t>
            </a:r>
            <a:r>
              <a:rPr lang="en-US" dirty="0" smtClean="0">
                <a:solidFill>
                  <a:schemeClr val="tx1"/>
                </a:solidFill>
              </a:rPr>
              <a:t> sensors, environmental feeds and historical context.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16000" y="5452451"/>
            <a:ext cx="3960000" cy="1396800"/>
          </a:xfrm>
          <a:prstGeom prst="rect">
            <a:avLst/>
          </a:prstGeom>
          <a:solidFill>
            <a:srgbClr val="EAEA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Predictive model continuously evaluates risk against optimized thresholds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30579" y="5452451"/>
            <a:ext cx="3960000" cy="1396800"/>
          </a:xfrm>
          <a:prstGeom prst="rect">
            <a:avLst/>
          </a:prstGeom>
          <a:solidFill>
            <a:srgbClr val="EAEA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 smtClean="0">
              <a:solidFill>
                <a:sysClr val="windowText" lastClr="000000"/>
              </a:solidFill>
            </a:endParaRPr>
          </a:p>
          <a:p>
            <a:pPr algn="just"/>
            <a:r>
              <a:rPr lang="en-US" dirty="0" smtClean="0">
                <a:solidFill>
                  <a:sysClr val="windowText" lastClr="000000"/>
                </a:solidFill>
              </a:rPr>
              <a:t>Automated physical gates prevent high –risk unites from escaping to the next stage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1" y="5468780"/>
            <a:ext cx="3960000" cy="30044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b="1" dirty="0" smtClean="0"/>
              <a:t>DATA INTEGRATION</a:t>
            </a:r>
            <a:endParaRPr lang="en-IN" b="1" dirty="0"/>
          </a:p>
        </p:txBody>
      </p:sp>
      <p:sp>
        <p:nvSpPr>
          <p:cNvPr id="19" name="Rectangle 18"/>
          <p:cNvSpPr/>
          <p:nvPr/>
        </p:nvSpPr>
        <p:spPr>
          <a:xfrm>
            <a:off x="4114577" y="5472728"/>
            <a:ext cx="3960000" cy="30044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b="1" dirty="0" smtClean="0"/>
              <a:t>INTELLIGENT ANALYSIS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8229156" y="5468780"/>
            <a:ext cx="3960000" cy="30044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b="1" dirty="0" smtClean="0"/>
              <a:t>PROACTIVE CONTROL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855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605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Business Problem</vt:lpstr>
      <vt:lpstr>Strategic objectives of Business Transition</vt:lpstr>
      <vt:lpstr>DATA OVERVIEW AND CONSOLIDATION</vt:lpstr>
      <vt:lpstr>DATA OVERVIEW AND CONSOLIDATION</vt:lpstr>
      <vt:lpstr>Feature Preparation &amp; Analysis </vt:lpstr>
      <vt:lpstr>Validation of Model intelligence </vt:lpstr>
      <vt:lpstr>Recommendations for model integration </vt:lpstr>
      <vt:lpstr>REAL-TIME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40</cp:revision>
  <dcterms:created xsi:type="dcterms:W3CDTF">2026-04-01T20:11:25Z</dcterms:created>
  <dcterms:modified xsi:type="dcterms:W3CDTF">2026-04-28T17:16:46Z</dcterms:modified>
</cp:coreProperties>
</file>